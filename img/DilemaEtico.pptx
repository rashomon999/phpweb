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37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Layouts/slideLayout22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  <p:sldMasterId id="2147483676" r:id="rId13"/>
    <p:sldMasterId id="2147483678" r:id="rId14"/>
    <p:sldMasterId id="2147483680" r:id="rId15"/>
    <p:sldMasterId id="2147483682" r:id="rId16"/>
    <p:sldMasterId id="2147483684" r:id="rId17"/>
    <p:sldMasterId id="2147483686" r:id="rId18"/>
    <p:sldMasterId id="2147483688" r:id="rId19"/>
    <p:sldMasterId id="2147483690" r:id="rId20"/>
    <p:sldMasterId id="2147483692" r:id="rId21"/>
    <p:sldMasterId id="2147483694" r:id="rId22"/>
    <p:sldMasterId id="2147483696" r:id="rId23"/>
    <p:sldMasterId id="2147483698" r:id="rId24"/>
    <p:sldMasterId id="2147483700" r:id="rId25"/>
    <p:sldMasterId id="2147483702" r:id="rId26"/>
    <p:sldMasterId id="2147483704" r:id="rId27"/>
    <p:sldMasterId id="2147483706" r:id="rId28"/>
    <p:sldMasterId id="2147483708" r:id="rId29"/>
    <p:sldMasterId id="2147483710" r:id="rId30"/>
    <p:sldMasterId id="2147483712" r:id="rId31"/>
    <p:sldMasterId id="2147483714" r:id="rId32"/>
    <p:sldMasterId id="2147483716" r:id="rId33"/>
    <p:sldMasterId id="2147483718" r:id="rId34"/>
    <p:sldMasterId id="2147483720" r:id="rId35"/>
    <p:sldMasterId id="2147483722" r:id="rId36"/>
    <p:sldMasterId id="2147483724" r:id="rId37"/>
    <p:sldMasterId id="2147483726" r:id="rId38"/>
  </p:sld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46144A-861E-43C6-A89D-2F2EF97C94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FB670B-D00E-4C86-B478-DCBC601720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B04C924-5C39-41AD-8A58-02B855EAA3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4EB572A-5820-4BB8-A3EC-221EA84FC6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9E44912-08DE-419B-A180-9C8AC0D8A3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65F8C25-5BB9-456E-9576-4C39977A07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58E6713-3E42-4ACC-81AC-F576B4E64A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67B34FA-CE5C-4BDC-9D55-78B2E969B5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C46C61E-F602-41EB-AF28-242FE2CE4B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71EB254-E738-49CF-A9B3-544B3C9229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C99E5E4-D1F5-4B77-8734-E6A21F1A9F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E25B1661-260A-455E-A588-02F85659EC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4F19BB0-1C3E-460F-BAD8-7930A5AEF4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07789816-AEDE-4C69-9BAB-B0363B6D41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F0EF76A1-0F67-42E3-9900-BC85CC582C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8F1B7578-776F-43A5-88DA-050994928A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BCDC5F2-F4B2-4E3D-91AF-C14D8ADEDC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3B7AF3A9-F38D-46D2-96EB-3BE103915A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57B3BD22-ACE8-4FBE-BEF2-913D7CFB48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935C16BF-14C5-4C23-AECE-2E38416AC2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0FF2D479-7FF9-480D-871D-6FFBFD28C8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7846754A-7BBA-4540-BA42-C560732E83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CC8F2CC1-C3C0-4EA0-BE4D-DD56935BB3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8F594C61-ED90-41EB-802B-EB8EE3F719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43C54855-B711-4D5B-8576-E5A1C735B6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22D36658-B371-4C7B-9A69-9C83C650F9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F940D4C2-F839-4B28-8DB5-0A4F774346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B8D55666-F07A-4286-A644-FEFC4393BB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EA650654-38AE-4C7B-85F5-79C689A2C7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2F384C8C-0A77-4B1D-93CD-100AEB1BF2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0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1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7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8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9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0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1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3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4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5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6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7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8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9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0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5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6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7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8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9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0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1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2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45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ángulo 5"/>
          <p:cNvSpPr/>
          <p:nvPr/>
        </p:nvSpPr>
        <p:spPr>
          <a:xfrm>
            <a:off x="366480" y="3511440"/>
            <a:ext cx="3422160" cy="1111680"/>
          </a:xfrm>
          <a:prstGeom prst="rect">
            <a:avLst/>
          </a:prstGeom>
          <a:solidFill>
            <a:srgbClr val="e4e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CO" sz="1800" strike="noStrike" u="none">
              <a:solidFill>
                <a:schemeClr val="lt1"/>
              </a:solidFill>
              <a:uFillTx/>
              <a:latin typeface="Arial"/>
              <a:ea typeface="ＭＳ Ｐゴシック"/>
            </a:endParaRPr>
          </a:p>
        </p:txBody>
      </p:sp>
      <p:sp>
        <p:nvSpPr>
          <p:cNvPr id="1" name="Rectángulo 8"/>
          <p:cNvSpPr/>
          <p:nvPr/>
        </p:nvSpPr>
        <p:spPr>
          <a:xfrm>
            <a:off x="366480" y="2086920"/>
            <a:ext cx="4403160" cy="148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CO" sz="1800" strike="noStrike" u="none">
              <a:solidFill>
                <a:schemeClr val="lt1"/>
              </a:solidFill>
              <a:uFillTx/>
              <a:latin typeface="Arial"/>
              <a:ea typeface="ＭＳ Ｐゴシック"/>
            </a:endParaRPr>
          </a:p>
        </p:txBody>
      </p:sp>
      <p:pic>
        <p:nvPicPr>
          <p:cNvPr id="2" name="Gráfico 10" descr=""/>
          <p:cNvPicPr/>
          <p:nvPr/>
        </p:nvPicPr>
        <p:blipFill>
          <a:blip r:embed="rId2"/>
          <a:stretch/>
        </p:blipFill>
        <p:spPr>
          <a:xfrm>
            <a:off x="318960" y="377280"/>
            <a:ext cx="2127960" cy="88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ráfico 11" descr=""/>
          <p:cNvPicPr/>
          <p:nvPr/>
        </p:nvPicPr>
        <p:blipFill>
          <a:blip r:embed="rId3"/>
          <a:stretch/>
        </p:blipFill>
        <p:spPr>
          <a:xfrm>
            <a:off x="7871040" y="427680"/>
            <a:ext cx="94788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es-CO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32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es-CO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CO" sz="2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es-CO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es-CO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CO" sz="20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es-CO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es-CO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es-CO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es-CO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2"/>
          <a:stretch/>
        </p:blipFill>
        <p:spPr>
          <a:xfrm>
            <a:off x="-5760" y="4747320"/>
            <a:ext cx="87444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"/>
          <p:cNvSpPr/>
          <p:nvPr/>
        </p:nvSpPr>
        <p:spPr>
          <a:xfrm>
            <a:off x="8322120" y="4910760"/>
            <a:ext cx="811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fld id="{72387F53-1F8D-466F-B4A6-38E7FAB5C1B3}" type="slidenum">
              <a:rPr b="0" lang="es-CO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1</a:t>
            </a:fld>
            <a:endParaRPr b="0" lang="es-CO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2"/>
          <a:stretch/>
        </p:blipFill>
        <p:spPr>
          <a:xfrm>
            <a:off x="-5760" y="4747320"/>
            <a:ext cx="87444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"/>
          <p:cNvSpPr/>
          <p:nvPr/>
        </p:nvSpPr>
        <p:spPr>
          <a:xfrm>
            <a:off x="8322120" y="4910760"/>
            <a:ext cx="811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fld id="{C54456A7-8C81-41C4-A9E5-97D8F448DBFD}" type="slidenum">
              <a:rPr b="0" lang="es-CO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1</a:t>
            </a:fld>
            <a:endParaRPr b="0" lang="es-CO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7"/>
          <p:cNvSpPr/>
          <p:nvPr/>
        </p:nvSpPr>
        <p:spPr>
          <a:xfrm>
            <a:off x="-36000" y="4186080"/>
            <a:ext cx="9211320" cy="1314720"/>
          </a:xfrm>
          <a:prstGeom prst="rect">
            <a:avLst/>
          </a:prstGeom>
          <a:solidFill>
            <a:srgbClr val="5454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CO" sz="3200" strike="noStrike" u="none">
              <a:solidFill>
                <a:schemeClr val="lt1"/>
              </a:solidFill>
              <a:uFillTx/>
              <a:latin typeface="Arial"/>
              <a:ea typeface="ＭＳ Ｐゴシック"/>
            </a:endParaRPr>
          </a:p>
        </p:txBody>
      </p:sp>
      <p:pic>
        <p:nvPicPr>
          <p:cNvPr id="34" name="Gráfico 4" descr=""/>
          <p:cNvPicPr/>
          <p:nvPr/>
        </p:nvPicPr>
        <p:blipFill>
          <a:blip r:embed="rId2"/>
          <a:stretch/>
        </p:blipFill>
        <p:spPr>
          <a:xfrm>
            <a:off x="352800" y="355320"/>
            <a:ext cx="1631160" cy="67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ráfico 3" descr=""/>
          <p:cNvPicPr/>
          <p:nvPr/>
        </p:nvPicPr>
        <p:blipFill>
          <a:blip r:embed="rId3"/>
          <a:stretch/>
        </p:blipFill>
        <p:spPr>
          <a:xfrm>
            <a:off x="8005320" y="355320"/>
            <a:ext cx="768240" cy="67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ráfico 1" descr=""/>
          <p:cNvPicPr/>
          <p:nvPr/>
        </p:nvPicPr>
        <p:blipFill>
          <a:blip r:embed="rId4"/>
          <a:stretch/>
        </p:blipFill>
        <p:spPr>
          <a:xfrm>
            <a:off x="-257040" y="4430520"/>
            <a:ext cx="9670680" cy="15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8"/>
          <p:cNvSpPr/>
          <p:nvPr/>
        </p:nvSpPr>
        <p:spPr>
          <a:xfrm>
            <a:off x="0" y="-112320"/>
            <a:ext cx="9230040" cy="3619080"/>
          </a:xfrm>
          <a:prstGeom prst="rect">
            <a:avLst/>
          </a:prstGeom>
          <a:solidFill>
            <a:srgbClr val="5454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CO" sz="3200" strike="noStrike" u="none">
              <a:solidFill>
                <a:schemeClr val="lt1"/>
              </a:solidFill>
              <a:uFillTx/>
              <a:latin typeface="Arial"/>
              <a:ea typeface="ＭＳ Ｐゴシック"/>
            </a:endParaRPr>
          </a:p>
        </p:txBody>
      </p:sp>
      <p:pic>
        <p:nvPicPr>
          <p:cNvPr id="40" name="Gráfico 11" descr=""/>
          <p:cNvPicPr/>
          <p:nvPr/>
        </p:nvPicPr>
        <p:blipFill>
          <a:blip r:embed="rId2"/>
          <a:stretch/>
        </p:blipFill>
        <p:spPr>
          <a:xfrm>
            <a:off x="368280" y="3935880"/>
            <a:ext cx="2079000" cy="80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Rectángulo 7"/>
          <p:cNvSpPr/>
          <p:nvPr/>
        </p:nvSpPr>
        <p:spPr>
          <a:xfrm>
            <a:off x="3920760" y="-112320"/>
            <a:ext cx="5309280" cy="71172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CO" sz="3200" strike="noStrike" u="none">
              <a:solidFill>
                <a:schemeClr val="lt1"/>
              </a:solidFill>
              <a:uFillTx/>
              <a:latin typeface="Arial"/>
              <a:ea typeface="ＭＳ Ｐゴシック"/>
            </a:endParaRPr>
          </a:p>
        </p:txBody>
      </p:sp>
      <p:pic>
        <p:nvPicPr>
          <p:cNvPr id="42" name="Gráfico 2" descr=""/>
          <p:cNvPicPr/>
          <p:nvPr/>
        </p:nvPicPr>
        <p:blipFill>
          <a:blip r:embed="rId3"/>
          <a:stretch/>
        </p:blipFill>
        <p:spPr>
          <a:xfrm>
            <a:off x="7428960" y="3937320"/>
            <a:ext cx="1103400" cy="97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1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d-ID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FD5BE9-AF9E-446E-B9EC-5F76F33F26AD}" type="slidenum">
              <a:rPr b="0" lang="id-ID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ftr" idx="4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5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d-ID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BB25E3-0D14-4C78-9805-EF7B632CB038}" type="slidenum">
              <a:rPr b="0" lang="id-ID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6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7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8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d-ID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C727BC-31D3-430B-B873-10D6E0354073}" type="slidenum">
              <a:rPr b="0" lang="id-ID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dt" idx="9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10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11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d-ID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6D3E64-E725-4166-980C-6E23A0D73956}" type="slidenum">
              <a:rPr b="0" lang="id-ID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dt" idx="12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ftr" idx="13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sldNum" idx="14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697A3A-4578-41C7-8582-923397BD27EA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dt" idx="15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ftr" idx="16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7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809062-47C9-47A1-BA16-5D02B8FE3662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18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ftr" idx="19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sldNum" idx="20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B70184-141E-4F8A-A40C-EBE9C4EA9C3D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dt" idx="21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ftr" idx="22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23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7CE976-20EA-4836-9086-AB406D37B983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dt" idx="24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1"/>
          <p:cNvSpPr>
            <a:spLocks noGrp="1"/>
          </p:cNvSpPr>
          <p:nvPr>
            <p:ph type="ftr" idx="25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26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55F049-B728-4081-A6B6-1299F5C3D22F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dt" idx="27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Outline 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h 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Outli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ne 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Leve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e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v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e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n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h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O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u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l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i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n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e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L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e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v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e</a:t>
            </a: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ftr" idx="28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sldNum" idx="29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45B75C-1E1C-4AC1-B4BE-FDA1F42FDA04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 type="dt" idx="30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ftr" idx="31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32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6FE691-19D4-4A5D-9035-F278E43F482C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dt" idx="33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ftr" idx="34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sldNum" idx="35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983D98-0489-46BD-8A6E-3BD13E84E6E4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dt" idx="36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ftr" idx="37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sldNum" idx="38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0C980B-A875-4BF0-ABFF-D4763EA94241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dt" idx="39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PlaceHolder 1"/>
          <p:cNvSpPr>
            <a:spLocks noGrp="1"/>
          </p:cNvSpPr>
          <p:nvPr>
            <p:ph type="ftr" idx="40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ldNum" idx="41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07408B-EA76-4620-96E0-6BC1E818BADD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dt" idx="42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ftr" idx="43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sldNum" idx="44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4203CB-596C-43EF-B6EB-1F58B819788D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dt" idx="45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46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47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4F9771-2070-4B05-B26C-998DD4906A4E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dt" idx="48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ftr" idx="49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3" name="PlaceHolder 6"/>
          <p:cNvSpPr>
            <a:spLocks noGrp="1"/>
          </p:cNvSpPr>
          <p:nvPr>
            <p:ph type="sldNum" idx="50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B4E093-3421-4601-9294-2617E521787F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4" name="PlaceHolder 7"/>
          <p:cNvSpPr>
            <a:spLocks noGrp="1"/>
          </p:cNvSpPr>
          <p:nvPr>
            <p:ph type="dt" idx="51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ftr" idx="52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5" name="PlaceHolder 6"/>
          <p:cNvSpPr>
            <a:spLocks noGrp="1"/>
          </p:cNvSpPr>
          <p:nvPr>
            <p:ph type="sldNum" idx="53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D3369E-1FB3-4D5D-81DE-BF3A51413582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6" name="PlaceHolder 7"/>
          <p:cNvSpPr>
            <a:spLocks noGrp="1"/>
          </p:cNvSpPr>
          <p:nvPr>
            <p:ph type="dt" idx="54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ftr" idx="55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56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3B2A85-1D7E-4D3E-A172-1BBFB1A407E4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dt" idx="57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ftr" idx="58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 type="sldNum" idx="59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F27211-D854-4437-949B-22A1ED84A60F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3" name="PlaceHolder 6"/>
          <p:cNvSpPr>
            <a:spLocks noGrp="1"/>
          </p:cNvSpPr>
          <p:nvPr>
            <p:ph type="dt" idx="60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ftr" idx="61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sldNum" idx="62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09B66F-2378-4C4D-9A5B-F638F35EE474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dt" idx="63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PlaceHolder 1"/>
          <p:cNvSpPr>
            <a:spLocks noGrp="1"/>
          </p:cNvSpPr>
          <p:nvPr>
            <p:ph type="ftr" idx="64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ldNum" idx="65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8CECA8-63D2-4738-9440-737E9E443F93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dt" idx="66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ftr" idx="67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68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0CCA85-2EB4-4C64-A4B7-C5B23BF40C24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dt" idx="69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ftr" idx="70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 type="sldNum" idx="71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00766D-44EC-463B-AE67-EC99DAF9DF87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2" name="PlaceHolder 7"/>
          <p:cNvSpPr>
            <a:spLocks noGrp="1"/>
          </p:cNvSpPr>
          <p:nvPr>
            <p:ph type="dt" idx="72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3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ftr" idx="73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 type="sldNum" idx="74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28FFFD-AB7D-43EB-A17F-1FED9C562A7F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3" name="PlaceHolder 6"/>
          <p:cNvSpPr>
            <a:spLocks noGrp="1"/>
          </p:cNvSpPr>
          <p:nvPr>
            <p:ph type="dt" idx="75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ftr" idx="76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 type="sldNum" idx="77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D6E1D3-9283-4CBF-8955-E56C76C94171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 type="dt" idx="78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ftr" idx="79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sldNum" idx="80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993A2D-86DA-454A-B15A-DC2716BF35F1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 type="dt" idx="81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44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PlaceHolder 5"/>
          <p:cNvSpPr>
            <a:spLocks noGrp="1"/>
          </p:cNvSpPr>
          <p:nvPr>
            <p:ph type="ftr" idx="82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1" name="PlaceHolder 6"/>
          <p:cNvSpPr>
            <a:spLocks noGrp="1"/>
          </p:cNvSpPr>
          <p:nvPr>
            <p:ph type="sldNum" idx="83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4030A1-FD78-4863-A58C-C57EEBCE12FD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2" name="PlaceHolder 7"/>
          <p:cNvSpPr>
            <a:spLocks noGrp="1"/>
          </p:cNvSpPr>
          <p:nvPr>
            <p:ph type="dt" idx="84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3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PlaceHolder 1"/>
          <p:cNvSpPr>
            <a:spLocks noGrp="1"/>
          </p:cNvSpPr>
          <p:nvPr>
            <p:ph type="ftr" idx="85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sldNum" idx="86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D89ED4-BF39-4F0F-9254-CD26047057A4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dt" idx="87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PlaceHolder 1"/>
          <p:cNvSpPr>
            <a:spLocks noGrp="1"/>
          </p:cNvSpPr>
          <p:nvPr>
            <p:ph type="ftr" idx="88"/>
          </p:nvPr>
        </p:nvSpPr>
        <p:spPr>
          <a:xfrm>
            <a:off x="3028680" y="4767480"/>
            <a:ext cx="308268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ldNum" idx="89"/>
          </p:nvPr>
        </p:nvSpPr>
        <p:spPr>
          <a:xfrm>
            <a:off x="645768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1FA3BB-65CB-45D7-8A53-A3F2ABB9233D}" type="slidenum">
              <a:rPr b="0" lang="es-CO" sz="1200" strike="noStrike" u="none">
                <a:solidFill>
                  <a:schemeClr val="lt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dt" idx="90"/>
          </p:nvPr>
        </p:nvSpPr>
        <p:spPr>
          <a:xfrm>
            <a:off x="628200" y="4767480"/>
            <a:ext cx="2053800" cy="2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CO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3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Imagen 8" descr=""/>
          <p:cNvPicPr/>
          <p:nvPr/>
        </p:nvPicPr>
        <p:blipFill>
          <a:blip r:embed="rId2"/>
          <a:stretch/>
        </p:blipFill>
        <p:spPr>
          <a:xfrm>
            <a:off x="7769160" y="118440"/>
            <a:ext cx="1238400" cy="3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CO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CO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CO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CO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CO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CO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CO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CO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" descr=""/>
          <p:cNvPicPr/>
          <p:nvPr/>
        </p:nvPicPr>
        <p:blipFill>
          <a:blip r:embed="rId2"/>
          <a:stretch/>
        </p:blipFill>
        <p:spPr>
          <a:xfrm>
            <a:off x="-5760" y="4747320"/>
            <a:ext cx="876600" cy="44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"/>
          <p:cNvSpPr/>
          <p:nvPr/>
        </p:nvSpPr>
        <p:spPr>
          <a:xfrm>
            <a:off x="8322120" y="4910760"/>
            <a:ext cx="8136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fld id="{95E69692-DA0F-4B05-8A22-8559D666FCBE}" type="slidenum">
              <a:rPr b="0" lang="es-CO" sz="12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s-CO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95720" y="1690200"/>
            <a:ext cx="4512600" cy="142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s-ES" sz="2600" strike="noStrike" u="none">
                <a:solidFill>
                  <a:srgbClr val="5454e9"/>
                </a:solidFill>
                <a:uFillTx/>
                <a:latin typeface="Arial"/>
              </a:rPr>
              <a:t>Ingeniería de Software IV</a:t>
            </a:r>
            <a:endParaRPr b="0" lang="es-CO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495360" y="3913920"/>
            <a:ext cx="3269880" cy="103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rgbClr val="393939"/>
                </a:solidFill>
                <a:uFillTx/>
                <a:latin typeface="Arial"/>
              </a:rPr>
              <a:t>Dilemas Éticos</a:t>
            </a:r>
            <a:endParaRPr b="0" lang="es-CO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2" name="CustomShape 2"/>
          <p:cNvSpPr/>
          <p:nvPr/>
        </p:nvSpPr>
        <p:spPr>
          <a:xfrm>
            <a:off x="4998960" y="3698640"/>
            <a:ext cx="4029480" cy="14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80000"/>
              </a:lnSpc>
              <a:spcBef>
                <a:spcPts val="400"/>
              </a:spcBef>
            </a:pPr>
            <a:r>
              <a:rPr b="1" lang="en-US" sz="1600" strike="noStrike" u="none">
                <a:solidFill>
                  <a:srgbClr val="fafafa"/>
                </a:solidFill>
                <a:uFillTx/>
                <a:latin typeface="Arial"/>
                <a:ea typeface="DejaVu Sans"/>
              </a:rPr>
              <a:t>Gabriel Tamura</a:t>
            </a:r>
            <a:endParaRPr b="0" lang="es-CO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400"/>
              </a:spcBef>
            </a:pPr>
            <a:r>
              <a:rPr b="1" lang="en-US" sz="1200" strike="noStrike" u="none">
                <a:solidFill>
                  <a:srgbClr val="fafafa"/>
                </a:solidFill>
                <a:uFillTx/>
                <a:latin typeface="Arial"/>
                <a:ea typeface="DejaVu Sans"/>
              </a:rPr>
              <a:t>gtamura@icesi.edu.co</a:t>
            </a:r>
            <a:endParaRPr b="0" lang="es-CO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400"/>
              </a:spcBef>
            </a:pPr>
            <a:endParaRPr b="0" lang="es-CO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fafafa"/>
                </a:solidFill>
                <a:uFillTx/>
                <a:latin typeface="Arial"/>
                <a:ea typeface="Times New Roman"/>
              </a:rPr>
              <a:t>Material de Uso Exclusivamente Académico </a:t>
            </a:r>
            <a:endParaRPr b="0" lang="es-CO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fafafa"/>
                </a:solidFill>
                <a:uFillTx/>
                <a:latin typeface="Arial"/>
                <a:ea typeface="Times New Roman"/>
              </a:rPr>
              <a:t>Facultad de Ingeniería, Diseño y Ciencias Aplicadas</a:t>
            </a:r>
            <a:endParaRPr b="0" lang="es-CO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CO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trike="noStrike" u="none">
                <a:solidFill>
                  <a:srgbClr val="fafafa"/>
                </a:solidFill>
                <a:uFillTx/>
                <a:latin typeface="DejaVu Sans"/>
                <a:ea typeface="DejaVu Sans"/>
              </a:rPr>
              <a:t>®</a:t>
            </a:r>
            <a:r>
              <a:rPr b="1" lang="en-US" sz="1100" strike="noStrike" u="none">
                <a:solidFill>
                  <a:srgbClr val="fafafa"/>
                </a:solidFill>
                <a:uFillTx/>
                <a:latin typeface="Arial"/>
                <a:ea typeface="Times New Roman"/>
              </a:rPr>
              <a:t>Todos los Derechos Reservados</a:t>
            </a:r>
            <a:endParaRPr b="0" lang="es-CO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7"/>
          <p:cNvSpPr/>
          <p:nvPr/>
        </p:nvSpPr>
        <p:spPr>
          <a:xfrm>
            <a:off x="1309320" y="1066680"/>
            <a:ext cx="557064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ES" sz="3600" strike="noStrike" u="none">
                <a:solidFill>
                  <a:srgbClr val="3465a4"/>
                </a:solidFill>
                <a:uFillTx/>
                <a:latin typeface="Arial"/>
                <a:ea typeface="DejaVu Sans"/>
              </a:rPr>
              <a:t>Agenda</a:t>
            </a:r>
            <a:endParaRPr b="0" lang="es-CO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PlaceHolder 8"/>
          <p:cNvSpPr/>
          <p:nvPr/>
        </p:nvSpPr>
        <p:spPr>
          <a:xfrm>
            <a:off x="1897560" y="1875960"/>
            <a:ext cx="6918840" cy="29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CO" sz="2400" strike="noStrike" u="none">
                <a:solidFill>
                  <a:srgbClr val="000000"/>
                </a:solidFill>
                <a:uFillTx/>
                <a:latin typeface="Arial"/>
                <a:ea typeface="Tahoma"/>
              </a:rPr>
              <a:t>Metodología sistemática que permita analizar una situación problemática, evaluar las opciones y tomar una decisión informada.</a:t>
            </a:r>
            <a:endParaRPr b="0" lang="es-CO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 txBox="1"/>
          <p:nvPr/>
        </p:nvSpPr>
        <p:spPr>
          <a:xfrm>
            <a:off x="1469520" y="1374120"/>
            <a:ext cx="6193080" cy="359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s-CO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1" lang="es-ES" sz="2400" strike="noStrike" u="none">
                <a:solidFill>
                  <a:srgbClr val="3465a4"/>
                </a:solidFill>
                <a:uFillTx/>
                <a:latin typeface="Arial"/>
                <a:ea typeface="DejaVu Sans"/>
              </a:rPr>
              <a:t>Paso 1. Identificar el dilema:</a:t>
            </a:r>
            <a:r>
              <a:rPr b="0" lang="es-CO" sz="24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s-CO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Describir la situación problemática de manera clara y concisa. 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Asegurarse de que se trata de un conflicto entre dos o más valores o principios éticos.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Reconocer que no existe una solución única y que cualquier opción puede tener consecuencias negativas.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PlaceHolder 3"/>
          <p:cNvSpPr/>
          <p:nvPr/>
        </p:nvSpPr>
        <p:spPr>
          <a:xfrm>
            <a:off x="1309320" y="346680"/>
            <a:ext cx="640764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-ES" sz="3200" strike="noStrike" u="none">
                <a:solidFill>
                  <a:srgbClr val="3465a4"/>
                </a:solidFill>
                <a:uFillTx/>
                <a:latin typeface="Arial"/>
                <a:ea typeface="DejaVu Sans"/>
              </a:rPr>
              <a:t>Metodología para </a:t>
            </a:r>
            <a:r>
              <a:rPr b="1" lang="es-ES" sz="3200" strike="noStrike" u="none">
                <a:solidFill>
                  <a:srgbClr val="3465a4"/>
                </a:solidFill>
                <a:uFillTx/>
                <a:latin typeface="Arial"/>
                <a:ea typeface="DejaVu Sans"/>
              </a:rPr>
              <a:t>identificar un dilema </a:t>
            </a:r>
            <a:r>
              <a:rPr b="1" lang="es-ES" sz="3200" strike="noStrike" u="none">
                <a:solidFill>
                  <a:srgbClr val="3465a4"/>
                </a:solidFill>
                <a:uFillTx/>
                <a:latin typeface="Arial"/>
                <a:ea typeface="DejaVu Sans"/>
              </a:rPr>
              <a:t>ético: </a:t>
            </a:r>
            <a:endParaRPr b="1" lang="es-CO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 txBox="1"/>
          <p:nvPr/>
        </p:nvSpPr>
        <p:spPr>
          <a:xfrm>
            <a:off x="1263240" y="899640"/>
            <a:ext cx="6626520" cy="333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2400" strike="noStrike" u="none">
                <a:solidFill>
                  <a:srgbClr val="3465a4"/>
                </a:solidFill>
                <a:uFillTx/>
                <a:latin typeface="Arial"/>
                <a:ea typeface="DejaVu Sans"/>
              </a:rPr>
              <a:t>Paso 2. Recopilar información:</a:t>
            </a:r>
            <a:r>
              <a:rPr b="0" lang="es-CO" sz="10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s-CO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Identificar los hechos relevantes del caso y las partes interesadas.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Consultar códigos de ética, leyes y regulaciones que puedan ser aplicables al caso.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Buscar asesoramiento de expertos o personas con experiencia en situaciones similares.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 txBox="1"/>
          <p:nvPr/>
        </p:nvSpPr>
        <p:spPr>
          <a:xfrm>
            <a:off x="1336320" y="971640"/>
            <a:ext cx="6804720" cy="319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2400" strike="noStrike" u="none">
                <a:solidFill>
                  <a:srgbClr val="3465a4"/>
                </a:solidFill>
                <a:uFillTx/>
                <a:latin typeface="Arial"/>
                <a:ea typeface="DejaVu Sans"/>
              </a:rPr>
              <a:t>Paso 3. Evaluar las opciones:</a:t>
            </a:r>
            <a:r>
              <a:rPr b="0" lang="es-CO" sz="10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s-CO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Considerar las posibles acciones que se pueden tomar.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Analizar las consecuencias de cada opción para todas las partes involucradas.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Evaluar la ética de cada opción utilizando diferentes marcos éticos (por ejemplo, utilitarismo, deontología).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 txBox="1"/>
          <p:nvPr/>
        </p:nvSpPr>
        <p:spPr>
          <a:xfrm>
            <a:off x="886320" y="971640"/>
            <a:ext cx="7354080" cy="305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2400" strike="noStrike" u="none">
                <a:solidFill>
                  <a:srgbClr val="3465a4"/>
                </a:solidFill>
                <a:uFillTx/>
                <a:latin typeface="Arial"/>
                <a:ea typeface="DejaVu Sans"/>
              </a:rPr>
              <a:t>4. Tomar una decisión:</a:t>
            </a:r>
            <a:r>
              <a:rPr b="0" lang="es-CO" sz="10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s-CO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Pesar las consecuencias de cada opción y sus implicaciones éticas.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Considerar los valores y principios en juego y cómo se ven afectados por cada opción.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Seleccionar la opción que mejor se alinee con los valores y principios éticos relevantes y que minimice las consecuencias negativas.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 txBox="1"/>
          <p:nvPr/>
        </p:nvSpPr>
        <p:spPr>
          <a:xfrm>
            <a:off x="1251720" y="1019520"/>
            <a:ext cx="6515640" cy="313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2400" strike="noStrike" u="none">
                <a:solidFill>
                  <a:srgbClr val="3465a4"/>
                </a:solidFill>
                <a:uFillTx/>
                <a:latin typeface="Arial"/>
                <a:ea typeface="DejaVu Sans"/>
              </a:rPr>
              <a:t>5. Reflexionar sobre la decisión:</a:t>
            </a:r>
            <a:r>
              <a:rPr b="0" lang="es-CO" sz="10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s-CO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Evaluar la decisión tomada y sus resultados.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Considerar cómo se podría haber abordado la situación de manera diferente.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000000"/>
                </a:solidFill>
                <a:uFillTx/>
                <a:latin typeface="Arial"/>
              </a:rPr>
              <a:t>Aprender de la experiencia para futuros dilemas éticos. </a:t>
            </a:r>
            <a:endParaRPr b="0" lang="es-CO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 txBox="1"/>
          <p:nvPr/>
        </p:nvSpPr>
        <p:spPr>
          <a:xfrm>
            <a:off x="351000" y="556920"/>
            <a:ext cx="8538120" cy="42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2400" strike="noStrike" u="none">
                <a:solidFill>
                  <a:srgbClr val="3465a4"/>
                </a:solidFill>
                <a:uFillTx/>
                <a:latin typeface="Arial"/>
                <a:ea typeface="DejaVu Sans"/>
              </a:rPr>
              <a:t>Ejemplos de dilemas éticos: </a:t>
            </a:r>
            <a:endParaRPr b="0" lang="es-CO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400" strike="noStrike" u="none">
                <a:solidFill>
                  <a:srgbClr val="2a6099"/>
                </a:solidFill>
                <a:uFillTx/>
                <a:latin typeface="Arial"/>
              </a:rPr>
              <a:t>Conflicto de intereses</a:t>
            </a:r>
            <a:r>
              <a:rPr b="0" lang="es-CO" sz="1400" strike="noStrike" u="none">
                <a:solidFill>
                  <a:srgbClr val="000000"/>
                </a:solidFill>
                <a:uFillTx/>
                <a:latin typeface="Arial"/>
              </a:rPr>
              <a:t>: Un profesional se enfrenta a una situación donde sus intereses personales pueden entrar en conflicto con los intereses de sus clientes o de la organización para la que trabaja. </a:t>
            </a:r>
            <a:endParaRPr b="0" lang="es-CO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400" strike="noStrike" u="none">
                <a:solidFill>
                  <a:srgbClr val="2a6099"/>
                </a:solidFill>
                <a:uFillTx/>
                <a:latin typeface="Arial"/>
              </a:rPr>
              <a:t>Secreto profesional</a:t>
            </a:r>
            <a:r>
              <a:rPr b="0" lang="es-CO" sz="1400" strike="noStrike" u="none">
                <a:solidFill>
                  <a:srgbClr val="000000"/>
                </a:solidFill>
                <a:uFillTx/>
                <a:latin typeface="Arial"/>
              </a:rPr>
              <a:t>: Un trabajador social descubre información confidencial sobre un cliente que podría ser perjudicial para terceros. Debe decidir si revelar la información o mantener el secreto profesional. </a:t>
            </a:r>
            <a:endParaRPr b="0" lang="es-CO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400" strike="noStrike" u="none">
                <a:solidFill>
                  <a:srgbClr val="2a6099"/>
                </a:solidFill>
                <a:uFillTx/>
                <a:latin typeface="Arial"/>
              </a:rPr>
              <a:t>Recursos limitados</a:t>
            </a:r>
            <a:r>
              <a:rPr b="0" lang="es-CO" sz="1400" strike="noStrike" u="none">
                <a:solidFill>
                  <a:srgbClr val="000000"/>
                </a:solidFill>
                <a:uFillTx/>
                <a:latin typeface="Arial"/>
              </a:rPr>
              <a:t>: Un médico debe decidir a quién atender primero cuando hay más pacientes que camas disponibles. </a:t>
            </a:r>
            <a:endParaRPr b="0" lang="es-CO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400" strike="noStrike" u="none">
                <a:solidFill>
                  <a:srgbClr val="2a6099"/>
                </a:solidFill>
                <a:uFillTx/>
                <a:latin typeface="Arial"/>
              </a:rPr>
              <a:t>Mentir para proteger a alguien</a:t>
            </a:r>
            <a:r>
              <a:rPr b="0" lang="es-CO" sz="1400" strike="noStrike" u="none">
                <a:solidFill>
                  <a:srgbClr val="000000"/>
                </a:solidFill>
                <a:uFillTx/>
                <a:latin typeface="Arial"/>
              </a:rPr>
              <a:t>: Un amigo te pregunta si has visto a su pareja con otra persona. Sabes que la ha visto, pero no quieres herir sus sentimientos. ¿Mientes o dices la verdad? </a:t>
            </a:r>
            <a:endParaRPr b="0" lang="es-CO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400" strike="noStrike" u="none">
                <a:solidFill>
                  <a:srgbClr val="2a6099"/>
                </a:solidFill>
                <a:uFillTx/>
                <a:latin typeface="Arial"/>
              </a:rPr>
              <a:t>Uso de información privilegiada</a:t>
            </a:r>
            <a:r>
              <a:rPr b="0" lang="es-CO" sz="1400" strike="noStrike" u="none">
                <a:solidFill>
                  <a:srgbClr val="000000"/>
                </a:solidFill>
                <a:uFillTx/>
                <a:latin typeface="Arial"/>
              </a:rPr>
              <a:t>: Un empleado de una empresa conoce información confidencial sobre un posible cambio en la empresa y decide usar esa información para su beneficio personal en la bolsa. </a:t>
            </a:r>
            <a:endParaRPr b="0" lang="es-CO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s-CO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2917E683F70DE4882B95EFDAC733E6E" ma:contentTypeVersion="7" ma:contentTypeDescription="Crear nuevo documento." ma:contentTypeScope="" ma:versionID="8afa65e708d230f0d9f74e345dde55b3">
  <xsd:schema xmlns:xsd="http://www.w3.org/2001/XMLSchema" xmlns:xs="http://www.w3.org/2001/XMLSchema" xmlns:p="http://schemas.microsoft.com/office/2006/metadata/properties" xmlns:ns2="31ebdc07-70d6-48e7-be59-859fed9b01b5" targetNamespace="http://schemas.microsoft.com/office/2006/metadata/properties" ma:root="true" ma:fieldsID="6b17e08abaa605aa5d357507f2cdf996" ns2:_="">
    <xsd:import namespace="31ebdc07-70d6-48e7-be59-859fed9b01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ebdc07-70d6-48e7-be59-859fed9b01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CE2154-1C89-430D-95F5-DFC47984ACE8}"/>
</file>

<file path=customXml/itemProps2.xml><?xml version="1.0" encoding="utf-8"?>
<ds:datastoreItem xmlns:ds="http://schemas.openxmlformats.org/officeDocument/2006/customXml" ds:itemID="{85DA254E-FABE-44D7-913B-E083360E8EDB}"/>
</file>

<file path=customXml/itemProps3.xml><?xml version="1.0" encoding="utf-8"?>
<ds:datastoreItem xmlns:ds="http://schemas.openxmlformats.org/officeDocument/2006/customXml" ds:itemID="{8BF8AA90-DA90-4282-8834-BF656D5E4D3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12157</TotalTime>
  <Application>LibreOffice/24.8.5.2$Linux_X86_64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Gabriel Tamura</cp:lastModifiedBy>
  <dcterms:modified xsi:type="dcterms:W3CDTF">2025-08-20T23:12:52Z</dcterms:modified>
  <cp:revision>271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0x010100A2917E683F70DE4882B95EFDAC733E6E</vt:lpwstr>
  </property>
</Properties>
</file>